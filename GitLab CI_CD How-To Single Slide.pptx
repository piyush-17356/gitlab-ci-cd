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JetBrains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JetBrainsMono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JetBrainsMono-italic.fntdata"/><Relationship Id="rId12" Type="http://schemas.openxmlformats.org/officeDocument/2006/relationships/font" Target="fonts/JetBrains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4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0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9900" y="1116210"/>
            <a:ext cx="4800600" cy="536078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115175" y="1846361"/>
            <a:ext cx="4210050" cy="3900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A737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Define the Environment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D73A4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image: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032F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node:16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FC6D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Image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1" lang="en-US" sz="1200" u="none" cap="none" strike="noStrike">
                <a:solidFill>
                  <a:srgbClr val="6A737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Define the Sequence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D73A4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stages: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FC6D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Stages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b="0" i="0" lang="en-US" sz="1200" u="none" cap="none" strike="noStrike">
                <a:solidFill>
                  <a:srgbClr val="032F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b="0" i="0" lang="en-US" sz="1200" u="none" cap="none" strike="noStrike">
                <a:solidFill>
                  <a:srgbClr val="032F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1" lang="en-US" sz="1200" u="none" cap="none" strike="noStrike">
                <a:solidFill>
                  <a:srgbClr val="6A737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Define the Unit of Work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D73A4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run_tests: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FC6D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Job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D73A4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stage: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032F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test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D73A4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tags: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FC6D2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← Tags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b="0" i="0" lang="en-US" sz="1200" u="none" cap="none" strike="noStrike">
                <a:solidFill>
                  <a:srgbClr val="032F6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linux-runner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1" i="0" lang="en-US" sz="1200" u="none" cap="none" strike="noStrike">
                <a:solidFill>
                  <a:srgbClr val="D73A4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script: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b="0" i="0" lang="en-US" sz="1200" u="none" cap="none" strike="noStrike">
                <a:solidFill>
                  <a:srgbClr val="6F42C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npm install</a:t>
            </a:r>
            <a:r>
              <a:rPr b="0" i="0" lang="en-US" sz="1200" u="none" cap="none" strike="noStrike">
                <a:solidFill>
                  <a:srgbClr val="33333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200" u="none" cap="none" strike="noStrike">
                <a:solidFill>
                  <a:srgbClr val="24292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b="0" i="0" lang="en-US" sz="1200" u="none" cap="none" strike="noStrike">
                <a:solidFill>
                  <a:srgbClr val="6F42C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npm test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154310"/>
            <a:ext cx="381000" cy="636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99952"/>
            <a:ext cx="381000" cy="41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22798"/>
            <a:ext cx="381000" cy="422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255168"/>
            <a:ext cx="381000" cy="41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78014"/>
            <a:ext cx="381000" cy="626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714130"/>
            <a:ext cx="381000" cy="6360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047750" y="1116210"/>
            <a:ext cx="5660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The File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047750" y="1354335"/>
            <a:ext cx="5391150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entire pipeline is defined in a single file named .gitlab-ci.yml located at the root of your repository.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47750" y="1961852"/>
            <a:ext cx="5660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Pipeline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047750" y="2199977"/>
            <a:ext cx="539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top-level component. It is a collection of stages and jobs.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047750" y="2584698"/>
            <a:ext cx="5660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Image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047750" y="2822823"/>
            <a:ext cx="5391150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Docker container where the job runs (e.g., node:16, python:3.9).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047750" y="3217068"/>
            <a:ext cx="5660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Stages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047750" y="3455193"/>
            <a:ext cx="5391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Define the sequence of execution (e.g., Build runs first, then Test).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47750" y="3839914"/>
            <a:ext cx="5660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Jobs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047750" y="4078039"/>
            <a:ext cx="53911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The fundamental unit of work. Jobs define </a:t>
            </a:r>
            <a:r>
              <a:rPr b="1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scripts</a:t>
            </a: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(commands) and run in </a:t>
            </a:r>
            <a:r>
              <a:rPr b="1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parallel</a:t>
            </a: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 if they are in the same stage.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047750" y="4676030"/>
            <a:ext cx="566070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Tags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1047750" y="4914155"/>
            <a:ext cx="5391150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Keywords used to select a specific Runner (server) to execute the job (e.g., linux, gpu).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571500" y="381000"/>
            <a:ext cx="11601450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B26"/>
                </a:solidFill>
                <a:latin typeface="Inter"/>
                <a:ea typeface="Inter"/>
                <a:cs typeface="Inter"/>
                <a:sym typeface="Inter"/>
              </a:rPr>
              <a:t>Anatomy of .gitlab-ci.yml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